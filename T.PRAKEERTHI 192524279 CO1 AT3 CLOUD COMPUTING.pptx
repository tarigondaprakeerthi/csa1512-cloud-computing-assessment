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Open by naming the capstone problem and the cloud product objective. Keep the title slide uncluttered and clearly identify the individual presenter.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9" name="Shape 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not start with technology. First make the need clear, then connect it to cloud-enabled scale, reach, or reliability.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3" name="Shape 9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Students should explain the concept map as a reasoning artifact, not as decoration.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" name="Shape 1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Walk from user request to API, compute, data, storage, analytics, monitoring, and security boundary.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6" name="Shape 18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Ask the student to defend provider responsibility and student responsibility for the selected service models.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5" name="Shape 22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Big data analytics is optional, but a thoughtful data path is expected.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4" name="Shape 25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If AI is not required, students can present a Python automation or analytics module instead.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3" name="Shape 28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slide is where students show engineering judgment instead of simply listing services.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2" name="Shape 31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Evidence should be specific and inspectable, not a generic list of tools.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hape 34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3" name="Shape 34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storyboard helps the faculty see whether the cloud architecture is connected to actual use.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37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78" name="Shape 37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Students can use this as the self-check slide before presenting the conclusion.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40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7" name="Shape 40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ending should synthesize learning, not just say thank you.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844675"/>
            <a:ext cx="10363200" cy="2041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828800" y="3886200"/>
            <a:ext cx="8534400" cy="297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1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2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24" name="CO1 AT3 | 01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01</a:t>
            </a:r>
          </a:p>
        </p:txBody>
      </p:sp>
      <p:sp>
        <p:nvSpPr>
          <p:cNvPr id="25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26" name="CSA15 Cloud Computing and Big Data Analytics"/>
          <p:cNvSpPr txBox="1"/>
          <p:nvPr/>
        </p:nvSpPr>
        <p:spPr>
          <a:xfrm>
            <a:off x="769619" y="914400"/>
            <a:ext cx="6671312" cy="892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600" b="1">
                <a:solidFill>
                  <a:srgbClr val="1F4E79"/>
                </a:solidFill>
              </a:defRPr>
            </a:lvl1pPr>
          </a:lstStyle>
          <a:p>
            <a:r>
              <a:rPr dirty="0"/>
              <a:t>CSA15</a:t>
            </a:r>
            <a:r>
              <a:rPr lang="en-US" dirty="0"/>
              <a:t>12-</a:t>
            </a:r>
            <a:r>
              <a:rPr dirty="0"/>
              <a:t> Cloud Computing and Big Data Analytics</a:t>
            </a:r>
          </a:p>
        </p:txBody>
      </p:sp>
      <p:sp>
        <p:nvSpPr>
          <p:cNvPr id="27" name="Capstone Cloud Technical Presentation"/>
          <p:cNvSpPr txBox="1"/>
          <p:nvPr/>
        </p:nvSpPr>
        <p:spPr>
          <a:xfrm>
            <a:off x="769619" y="2152650"/>
            <a:ext cx="6671312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200" b="1">
                <a:solidFill>
                  <a:srgbClr val="2F6690"/>
                </a:solidFill>
              </a:defRPr>
            </a:lvl1pPr>
          </a:lstStyle>
          <a:p>
            <a:r>
              <a:t>Capstone Cloud Technical Presentation</a:t>
            </a:r>
          </a:p>
        </p:txBody>
      </p:sp>
      <p:sp>
        <p:nvSpPr>
          <p:cNvPr id="28" name="Individual Student Presentation Deck"/>
          <p:cNvSpPr txBox="1"/>
          <p:nvPr/>
        </p:nvSpPr>
        <p:spPr>
          <a:xfrm>
            <a:off x="769619" y="2762250"/>
            <a:ext cx="5814062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334155"/>
                </a:solidFill>
              </a:defRPr>
            </a:lvl1pPr>
          </a:lstStyle>
          <a:p>
            <a:r>
              <a:t>Individual Student Presentation Deck</a:t>
            </a:r>
          </a:p>
        </p:txBody>
      </p:sp>
      <p:sp>
        <p:nvSpPr>
          <p:cNvPr id="29" name="Presenter Details-panel"/>
          <p:cNvSpPr/>
          <p:nvPr/>
        </p:nvSpPr>
        <p:spPr>
          <a:xfrm>
            <a:off x="7524750" y="1143000"/>
            <a:ext cx="37147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Presenter Details-bar"/>
          <p:cNvSpPr/>
          <p:nvPr/>
        </p:nvSpPr>
        <p:spPr>
          <a:xfrm>
            <a:off x="7524750" y="1143000"/>
            <a:ext cx="37147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Presenter Details"/>
          <p:cNvSpPr txBox="1"/>
          <p:nvPr/>
        </p:nvSpPr>
        <p:spPr>
          <a:xfrm>
            <a:off x="7741919" y="1333500"/>
            <a:ext cx="32804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Presenter Details</a:t>
            </a:r>
          </a:p>
        </p:txBody>
      </p:sp>
      <p:sp>
        <p:nvSpPr>
          <p:cNvPr id="32" name="Student Name:…"/>
          <p:cNvSpPr txBox="1"/>
          <p:nvPr/>
        </p:nvSpPr>
        <p:spPr>
          <a:xfrm>
            <a:off x="7741919" y="1733550"/>
            <a:ext cx="3280412" cy="1492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17203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T. Prakeerthi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Number: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192524279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/ Section / Slot: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Title: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 Queue AI: Hospital of Queue and No-show. prediction App.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SDG Goal(s):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 / Tools:</a:t>
            </a:r>
          </a:p>
        </p:txBody>
      </p:sp>
      <p:sp>
        <p:nvSpPr>
          <p:cNvPr id="33" name="Presentation Focus-panel"/>
          <p:cNvSpPr/>
          <p:nvPr/>
        </p:nvSpPr>
        <p:spPr>
          <a:xfrm>
            <a:off x="723900" y="3714750"/>
            <a:ext cx="6191250" cy="1181100"/>
          </a:xfrm>
          <a:prstGeom prst="roundRect">
            <a:avLst>
              <a:gd name="adj" fmla="val 6452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4" name="Presentation Focus-bar"/>
          <p:cNvSpPr/>
          <p:nvPr/>
        </p:nvSpPr>
        <p:spPr>
          <a:xfrm>
            <a:off x="723900" y="3714750"/>
            <a:ext cx="6191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" name="Presentation Focus"/>
          <p:cNvSpPr txBox="1"/>
          <p:nvPr/>
        </p:nvSpPr>
        <p:spPr>
          <a:xfrm>
            <a:off x="941069" y="3905250"/>
            <a:ext cx="5756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Presentation Focus</a:t>
            </a:r>
          </a:p>
        </p:txBody>
      </p:sp>
      <p:sp>
        <p:nvSpPr>
          <p:cNvPr id="36" name="Present your capstone as a cloud-backed product. Explain the problem, architecture, service choices, evidence, and CO1 learning clearly."/>
          <p:cNvSpPr txBox="1"/>
          <p:nvPr/>
        </p:nvSpPr>
        <p:spPr>
          <a:xfrm>
            <a:off x="941069" y="4305300"/>
            <a:ext cx="5756912" cy="509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172033"/>
                </a:solidFill>
              </a:defRPr>
            </a:lvl1pPr>
          </a:lstStyle>
          <a:p>
            <a:r>
              <a:t>Present your capstone as a cloud-backed product. Explain the problem, architecture, service choices, evidence, and CO1 learning clearly.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44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46" name="CO1 AT3 | 02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02</a:t>
            </a:r>
          </a:p>
        </p:txBody>
      </p:sp>
      <p:sp>
        <p:nvSpPr>
          <p:cNvPr id="47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Problem Context and Stakeholder Mapping</a:t>
            </a:r>
          </a:p>
        </p:txBody>
      </p:sp>
      <p:sp>
        <p:nvSpPr>
          <p:cNvPr id="48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Our capstone begins with a real problem to solve</a:t>
            </a:r>
          </a:p>
        </p:txBody>
      </p:sp>
      <p:sp>
        <p:nvSpPr>
          <p:cNvPr id="49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50" name="section-0"/>
          <p:cNvSpPr/>
          <p:nvPr/>
        </p:nvSpPr>
        <p:spPr>
          <a:xfrm>
            <a:off x="786211" y="1610752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51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" name="Problem Statement"/>
          <p:cNvSpPr txBox="1"/>
          <p:nvPr/>
        </p:nvSpPr>
        <p:spPr>
          <a:xfrm>
            <a:off x="876300" y="1571536"/>
            <a:ext cx="422148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rPr dirty="0"/>
              <a:t>Problem Statement</a:t>
            </a:r>
          </a:p>
        </p:txBody>
      </p:sp>
      <p:sp>
        <p:nvSpPr>
          <p:cNvPr id="53" name="What real-world problem does the product solve?"/>
          <p:cNvSpPr txBox="1"/>
          <p:nvPr/>
        </p:nvSpPr>
        <p:spPr>
          <a:xfrm>
            <a:off x="876300" y="1894448"/>
            <a:ext cx="4221481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Manual appointment scheduling in hospitals can lead to overcrowded waiting areas and frequent no-shows. </a:t>
            </a:r>
            <a:r>
              <a:rPr lang="en-IN" b="1" dirty="0"/>
              <a:t>Medi Queue AI</a:t>
            </a:r>
            <a:r>
              <a:rPr lang="en-IN" dirty="0"/>
              <a:t> uses Artificial Intelligence to optimize appointments, predict no-shows, and provide real-time queue updates for better hospital management.</a:t>
            </a:r>
            <a:endParaRPr dirty="0"/>
          </a:p>
        </p:txBody>
      </p:sp>
      <p:sp>
        <p:nvSpPr>
          <p:cNvPr id="54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55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" name="Target Users"/>
          <p:cNvSpPr txBox="1"/>
          <p:nvPr/>
        </p:nvSpPr>
        <p:spPr>
          <a:xfrm>
            <a:off x="6330131" y="1637005"/>
            <a:ext cx="417785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rPr dirty="0"/>
              <a:t>Target Users</a:t>
            </a:r>
          </a:p>
        </p:txBody>
      </p:sp>
      <p:sp>
        <p:nvSpPr>
          <p:cNvPr id="57" name="Who will use the product and what changes for them?"/>
          <p:cNvSpPr txBox="1"/>
          <p:nvPr/>
        </p:nvSpPr>
        <p:spPr>
          <a:xfrm>
            <a:off x="6286500" y="2000250"/>
            <a:ext cx="4221481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Patients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 Doctors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Hospital Receptionists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 Hospital Administrators</a:t>
            </a:r>
            <a:endParaRPr dirty="0"/>
          </a:p>
        </p:txBody>
      </p:sp>
      <p:sp>
        <p:nvSpPr>
          <p:cNvPr id="58" name="section-2"/>
          <p:cNvSpPr/>
          <p:nvPr/>
        </p:nvSpPr>
        <p:spPr>
          <a:xfrm>
            <a:off x="696247" y="321919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59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" name="SDG Fit"/>
          <p:cNvSpPr txBox="1"/>
          <p:nvPr/>
        </p:nvSpPr>
        <p:spPr>
          <a:xfrm>
            <a:off x="933450" y="3306202"/>
            <a:ext cx="416433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rPr dirty="0"/>
              <a:t>SDG Fit</a:t>
            </a:r>
          </a:p>
        </p:txBody>
      </p:sp>
      <p:sp>
        <p:nvSpPr>
          <p:cNvPr id="61" name="Which SDG goal is connected to the capstone outcome?"/>
          <p:cNvSpPr txBox="1"/>
          <p:nvPr/>
        </p:nvSpPr>
        <p:spPr>
          <a:xfrm>
            <a:off x="876300" y="3638810"/>
            <a:ext cx="4221481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Improves access to quality healthcare.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Reduces patient waiting time.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Predicts and minimizes appointment no-shows.</a:t>
            </a:r>
            <a:endParaRPr dirty="0"/>
          </a:p>
        </p:txBody>
      </p:sp>
      <p:sp>
        <p:nvSpPr>
          <p:cNvPr id="62" name="section-3"/>
          <p:cNvSpPr/>
          <p:nvPr/>
        </p:nvSpPr>
        <p:spPr>
          <a:xfrm>
            <a:off x="6134100" y="3252169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63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4" name="Product Boundary"/>
          <p:cNvSpPr txBox="1"/>
          <p:nvPr/>
        </p:nvSpPr>
        <p:spPr>
          <a:xfrm>
            <a:off x="6286500" y="3306202"/>
            <a:ext cx="422148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rPr dirty="0"/>
              <a:t>Product Boundary</a:t>
            </a:r>
          </a:p>
        </p:txBody>
      </p:sp>
      <p:sp>
        <p:nvSpPr>
          <p:cNvPr id="65" name="What is included in the first usable version?"/>
          <p:cNvSpPr txBox="1"/>
          <p:nvPr/>
        </p:nvSpPr>
        <p:spPr>
          <a:xfrm>
            <a:off x="6286500" y="3638810"/>
            <a:ext cx="4221481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Patient registration and login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 OP appointment booking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 AI-based no-show prediction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Smart queue management </a:t>
            </a:r>
          </a:p>
          <a:p>
            <a:endParaRPr dirty="0"/>
          </a:p>
        </p:txBody>
      </p:sp>
      <p:sp>
        <p:nvSpPr>
          <p:cNvPr id="67" name="Guidance - delete before presentation: Keep the slide short. Present the problem orally with one example, not a long paragraph."/>
          <p:cNvSpPr txBox="1"/>
          <p:nvPr/>
        </p:nvSpPr>
        <p:spPr>
          <a:xfrm>
            <a:off x="1150619" y="5934075"/>
            <a:ext cx="989076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8A4B18"/>
                </a:solidFill>
              </a:defRPr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2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73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75" name="CO1 AT3 | 03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03</a:t>
            </a:r>
          </a:p>
        </p:txBody>
      </p:sp>
      <p:sp>
        <p:nvSpPr>
          <p:cNvPr id="76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Cloud Adoption Rationale and Concept Map</a:t>
            </a:r>
          </a:p>
        </p:txBody>
      </p:sp>
      <p:sp>
        <p:nvSpPr>
          <p:cNvPr id="77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The problem needs cloud support to become a usable product</a:t>
            </a:r>
          </a:p>
        </p:txBody>
      </p:sp>
      <p:sp>
        <p:nvSpPr>
          <p:cNvPr id="78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79" name="Cloud Definition-panel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80" name="Cloud Definition-bar"/>
          <p:cNvSpPr/>
          <p:nvPr/>
        </p:nvSpPr>
        <p:spPr>
          <a:xfrm>
            <a:off x="723900" y="1600200"/>
            <a:ext cx="476250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81" name="Cloud Definition"/>
          <p:cNvSpPr txBox="1"/>
          <p:nvPr/>
        </p:nvSpPr>
        <p:spPr>
          <a:xfrm>
            <a:off x="941069" y="1790700"/>
            <a:ext cx="43281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Cloud Definition</a:t>
            </a:r>
          </a:p>
        </p:txBody>
      </p:sp>
      <p:sp>
        <p:nvSpPr>
          <p:cNvPr id="82" name="Define cloud using your capstone context."/>
          <p:cNvSpPr txBox="1"/>
          <p:nvPr/>
        </p:nvSpPr>
        <p:spPr>
          <a:xfrm>
            <a:off x="876300" y="2091294"/>
            <a:ext cx="4392931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use of internet-based services to store and process data. In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MediQueue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manages appointments, predicts no-shows, and updates OP queues in real time.</a:t>
            </a:r>
          </a:p>
          <a:p>
            <a:endParaRPr dirty="0"/>
          </a:p>
        </p:txBody>
      </p:sp>
      <p:sp>
        <p:nvSpPr>
          <p:cNvPr id="83" name="Cloud Characteristics-panel"/>
          <p:cNvSpPr/>
          <p:nvPr/>
        </p:nvSpPr>
        <p:spPr>
          <a:xfrm>
            <a:off x="723900" y="3238500"/>
            <a:ext cx="4762500" cy="15430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84" name="Cloud Characteristics-bar"/>
          <p:cNvSpPr/>
          <p:nvPr/>
        </p:nvSpPr>
        <p:spPr>
          <a:xfrm>
            <a:off x="723900" y="3238500"/>
            <a:ext cx="476250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85" name="Cloud Characteristics"/>
          <p:cNvSpPr txBox="1"/>
          <p:nvPr/>
        </p:nvSpPr>
        <p:spPr>
          <a:xfrm>
            <a:off x="806245" y="3337185"/>
            <a:ext cx="4462986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rPr dirty="0"/>
              <a:t>Cloud Characteristics</a:t>
            </a:r>
          </a:p>
        </p:txBody>
      </p:sp>
      <p:sp>
        <p:nvSpPr>
          <p:cNvPr id="86" name="Elasticity, scalability, measured service, resource pooling."/>
          <p:cNvSpPr txBox="1"/>
          <p:nvPr/>
        </p:nvSpPr>
        <p:spPr>
          <a:xfrm>
            <a:off x="806245" y="3630910"/>
            <a:ext cx="4462986" cy="1200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On-Demand Self-Service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Patients can book appointments anytime.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 Network Access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Accessible through mobile apps and web browsers.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Elasticity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Automatically handles increased patient traffic during busy hours. </a:t>
            </a:r>
          </a:p>
          <a:p>
            <a:endParaRPr dirty="0"/>
          </a:p>
        </p:txBody>
      </p:sp>
      <p:sp>
        <p:nvSpPr>
          <p:cNvPr id="88" name="Cloud Concept Map"/>
          <p:cNvSpPr txBox="1"/>
          <p:nvPr/>
        </p:nvSpPr>
        <p:spPr>
          <a:xfrm>
            <a:off x="6174658" y="1337706"/>
            <a:ext cx="4504773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rPr dirty="0"/>
              <a:t>Cloud Concept Map</a:t>
            </a:r>
          </a:p>
        </p:txBody>
      </p:sp>
      <p:sp>
        <p:nvSpPr>
          <p:cNvPr id="89" name="Place a clean concept map that links cloud ecosystem, API role, service models, elasticity, and your capstone modules."/>
          <p:cNvSpPr txBox="1"/>
          <p:nvPr/>
        </p:nvSpPr>
        <p:spPr>
          <a:xfrm>
            <a:off x="6351269" y="2190750"/>
            <a:ext cx="432816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91" name="Guidance - delete before presentation: Use the concept map as a speaking aid. Do not overload it with tiny text."/>
          <p:cNvSpPr txBox="1"/>
          <p:nvPr/>
        </p:nvSpPr>
        <p:spPr>
          <a:xfrm>
            <a:off x="1150619" y="5934075"/>
            <a:ext cx="989076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8A4B18"/>
                </a:solidFill>
              </a:defRPr>
            </a:lvl1pPr>
          </a:lstStyle>
          <a:p>
            <a:r>
              <a:rPr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EE772C-F9A3-B14C-00F8-3D943C147B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018" y="1748568"/>
            <a:ext cx="5320481" cy="389023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96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97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99" name="CO1 AT3 | 04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04</a:t>
            </a:r>
          </a:p>
        </p:txBody>
      </p:sp>
      <p:sp>
        <p:nvSpPr>
          <p:cNvPr id="100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Capstone Cloud Architecture</a:t>
            </a:r>
          </a:p>
        </p:txBody>
      </p:sp>
      <p:sp>
        <p:nvSpPr>
          <p:cNvPr id="101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Our cloud architecture connects the user action to services</a:t>
            </a:r>
          </a:p>
        </p:txBody>
      </p:sp>
      <p:sp>
        <p:nvSpPr>
          <p:cNvPr id="102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103" name="node-User App / Web App"/>
          <p:cNvSpPr/>
          <p:nvPr/>
        </p:nvSpPr>
        <p:spPr>
          <a:xfrm>
            <a:off x="206478" y="2095500"/>
            <a:ext cx="1841398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04" name="User App / Web App"/>
          <p:cNvSpPr txBox="1"/>
          <p:nvPr/>
        </p:nvSpPr>
        <p:spPr>
          <a:xfrm>
            <a:off x="-403123" y="2333625"/>
            <a:ext cx="3100604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dirty="0"/>
              <a:t>User App / Web App</a:t>
            </a:r>
          </a:p>
        </p:txBody>
      </p:sp>
      <p:sp>
        <p:nvSpPr>
          <p:cNvPr id="105" name="node-Auth + API Gateway"/>
          <p:cNvSpPr/>
          <p:nvPr/>
        </p:nvSpPr>
        <p:spPr>
          <a:xfrm>
            <a:off x="2697481" y="2095500"/>
            <a:ext cx="1674494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06" name="Auth + API Gateway"/>
          <p:cNvSpPr txBox="1"/>
          <p:nvPr/>
        </p:nvSpPr>
        <p:spPr>
          <a:xfrm>
            <a:off x="2078356" y="2333624"/>
            <a:ext cx="3048000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dirty="0"/>
              <a:t>Auth + API Gateway</a:t>
            </a:r>
          </a:p>
        </p:txBody>
      </p:sp>
      <p:sp>
        <p:nvSpPr>
          <p:cNvPr id="107" name="node-Backend Services"/>
          <p:cNvSpPr/>
          <p:nvPr/>
        </p:nvSpPr>
        <p:spPr>
          <a:xfrm>
            <a:off x="5151119" y="2095500"/>
            <a:ext cx="1516381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08" name="Backend Services"/>
          <p:cNvSpPr txBox="1"/>
          <p:nvPr/>
        </p:nvSpPr>
        <p:spPr>
          <a:xfrm>
            <a:off x="4371975" y="2333625"/>
            <a:ext cx="3183256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dirty="0"/>
              <a:t>Backend Services</a:t>
            </a:r>
          </a:p>
        </p:txBody>
      </p:sp>
      <p:sp>
        <p:nvSpPr>
          <p:cNvPr id="109" name="node-Database / Storage"/>
          <p:cNvSpPr/>
          <p:nvPr/>
        </p:nvSpPr>
        <p:spPr>
          <a:xfrm>
            <a:off x="7265669" y="2143036"/>
            <a:ext cx="1516381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10" name="Database / Storage"/>
          <p:cNvSpPr txBox="1"/>
          <p:nvPr/>
        </p:nvSpPr>
        <p:spPr>
          <a:xfrm>
            <a:off x="6229350" y="2333624"/>
            <a:ext cx="3754756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dirty="0"/>
              <a:t>Database / Storage</a:t>
            </a:r>
          </a:p>
        </p:txBody>
      </p:sp>
      <p:sp>
        <p:nvSpPr>
          <p:cNvPr id="111" name="node-Analytics + Monitoring"/>
          <p:cNvSpPr/>
          <p:nvPr/>
        </p:nvSpPr>
        <p:spPr>
          <a:xfrm>
            <a:off x="5122544" y="3700923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12" name="Analytics + Monitoring"/>
          <p:cNvSpPr txBox="1"/>
          <p:nvPr/>
        </p:nvSpPr>
        <p:spPr>
          <a:xfrm>
            <a:off x="4591665" y="3952875"/>
            <a:ext cx="2963566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dirty="0"/>
              <a:t>Analytics + Monitoring</a:t>
            </a:r>
          </a:p>
        </p:txBody>
      </p:sp>
      <p:sp>
        <p:nvSpPr>
          <p:cNvPr id="113" name="connector-0"/>
          <p:cNvSpPr/>
          <p:nvPr/>
        </p:nvSpPr>
        <p:spPr>
          <a:xfrm>
            <a:off x="2047876" y="2560317"/>
            <a:ext cx="657224" cy="45719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4" name="connector-1"/>
          <p:cNvSpPr/>
          <p:nvPr/>
        </p:nvSpPr>
        <p:spPr>
          <a:xfrm flipV="1">
            <a:off x="4371975" y="2514598"/>
            <a:ext cx="754381" cy="4572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5" name="connector-2"/>
          <p:cNvSpPr/>
          <p:nvPr/>
        </p:nvSpPr>
        <p:spPr>
          <a:xfrm>
            <a:off x="6670755" y="2489855"/>
            <a:ext cx="646351" cy="45719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6" name="connector-3"/>
          <p:cNvSpPr/>
          <p:nvPr/>
        </p:nvSpPr>
        <p:spPr>
          <a:xfrm>
            <a:off x="5819775" y="2895600"/>
            <a:ext cx="19050" cy="81915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7" name="Scaling point"/>
          <p:cNvSpPr txBox="1"/>
          <p:nvPr/>
        </p:nvSpPr>
        <p:spPr>
          <a:xfrm>
            <a:off x="5951219" y="1733550"/>
            <a:ext cx="171831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 b="1">
                <a:solidFill>
                  <a:srgbClr val="334155"/>
                </a:solidFill>
              </a:defRPr>
            </a:lvl1pPr>
          </a:lstStyle>
          <a:p>
            <a:r>
              <a:t>Scaling point</a:t>
            </a:r>
          </a:p>
        </p:txBody>
      </p:sp>
      <p:sp>
        <p:nvSpPr>
          <p:cNvPr id="118" name="Security boundary"/>
          <p:cNvSpPr txBox="1"/>
          <p:nvPr/>
        </p:nvSpPr>
        <p:spPr>
          <a:xfrm>
            <a:off x="3522344" y="3067050"/>
            <a:ext cx="65760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64748B"/>
                </a:solidFill>
              </a:defRPr>
            </a:lvl1pPr>
          </a:lstStyle>
          <a:p>
            <a:r>
              <a:t>Security boundary</a:t>
            </a:r>
          </a:p>
        </p:txBody>
      </p:sp>
      <p:sp>
        <p:nvSpPr>
          <p:cNvPr id="120" name="Presentation Points-panel"/>
          <p:cNvSpPr/>
          <p:nvPr/>
        </p:nvSpPr>
        <p:spPr>
          <a:xfrm>
            <a:off x="8891343" y="1523692"/>
            <a:ext cx="3157998" cy="3810615"/>
          </a:xfrm>
          <a:prstGeom prst="roundRect">
            <a:avLst>
              <a:gd name="adj" fmla="val 3200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21" name="Presentation Points-bar"/>
          <p:cNvSpPr/>
          <p:nvPr/>
        </p:nvSpPr>
        <p:spPr>
          <a:xfrm>
            <a:off x="8916108" y="1551510"/>
            <a:ext cx="3108467" cy="62469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22" name="Presentation Points"/>
          <p:cNvSpPr txBox="1"/>
          <p:nvPr/>
        </p:nvSpPr>
        <p:spPr>
          <a:xfrm>
            <a:off x="9075419" y="1660237"/>
            <a:ext cx="2713458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rPr dirty="0"/>
              <a:t>Presentation Points</a:t>
            </a:r>
          </a:p>
        </p:txBody>
      </p:sp>
      <p:sp>
        <p:nvSpPr>
          <p:cNvPr id="123" name="Request path…"/>
          <p:cNvSpPr txBox="1"/>
          <p:nvPr/>
        </p:nvSpPr>
        <p:spPr>
          <a:xfrm>
            <a:off x="9075419" y="2171700"/>
            <a:ext cx="2713458" cy="3308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book appointments and check queue status.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users and securely sends requests.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appointments, queues, and notifications.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patient and appointment data safely.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the system and predicts no-shows.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handles more users during peak hours.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patient data and ensures secure communication.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endParaRPr dirty="0"/>
          </a:p>
        </p:txBody>
      </p:sp>
      <p:sp>
        <p:nvSpPr>
          <p:cNvPr id="125" name="Guidance - delete before presentation: Explain the request path from user to cloud services. Replace sample labels with your actual architecture."/>
          <p:cNvSpPr txBox="1"/>
          <p:nvPr/>
        </p:nvSpPr>
        <p:spPr>
          <a:xfrm>
            <a:off x="1150619" y="5934075"/>
            <a:ext cx="989076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8A4B18"/>
                </a:solidFill>
              </a:defRPr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30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131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133" name="CO1 AT3 | 05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05</a:t>
            </a:r>
          </a:p>
        </p:txBody>
      </p:sp>
      <p:sp>
        <p:nvSpPr>
          <p:cNvPr id="134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Cloud Service Model Responsibility Matrix</a:t>
            </a:r>
          </a:p>
        </p:txBody>
      </p:sp>
      <p:sp>
        <p:nvSpPr>
          <p:cNvPr id="135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Each service model defines what we control and what cloud manages</a:t>
            </a:r>
          </a:p>
        </p:txBody>
      </p:sp>
      <p:sp>
        <p:nvSpPr>
          <p:cNvPr id="136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137" name="matrix-h-0"/>
          <p:cNvSpPr/>
          <p:nvPr/>
        </p:nvSpPr>
        <p:spPr>
          <a:xfrm>
            <a:off x="723900" y="1809750"/>
            <a:ext cx="171450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38" name="Service area"/>
          <p:cNvSpPr txBox="1"/>
          <p:nvPr/>
        </p:nvSpPr>
        <p:spPr>
          <a:xfrm>
            <a:off x="845819" y="1971675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Service area</a:t>
            </a:r>
          </a:p>
        </p:txBody>
      </p:sp>
      <p:sp>
        <p:nvSpPr>
          <p:cNvPr id="139" name="matrix-h-1"/>
          <p:cNvSpPr/>
          <p:nvPr/>
        </p:nvSpPr>
        <p:spPr>
          <a:xfrm>
            <a:off x="2438400" y="1809750"/>
            <a:ext cx="114300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0" name="Model"/>
          <p:cNvSpPr txBox="1"/>
          <p:nvPr/>
        </p:nvSpPr>
        <p:spPr>
          <a:xfrm>
            <a:off x="2560319" y="1971675"/>
            <a:ext cx="8991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Model</a:t>
            </a:r>
          </a:p>
        </p:txBody>
      </p:sp>
      <p:sp>
        <p:nvSpPr>
          <p:cNvPr id="141" name="matrix-h-2"/>
          <p:cNvSpPr/>
          <p:nvPr/>
        </p:nvSpPr>
        <p:spPr>
          <a:xfrm>
            <a:off x="3581400" y="1809750"/>
            <a:ext cx="228600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2" name="Provider manages"/>
          <p:cNvSpPr txBox="1"/>
          <p:nvPr/>
        </p:nvSpPr>
        <p:spPr>
          <a:xfrm>
            <a:off x="3703319" y="1971675"/>
            <a:ext cx="20421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Provider manages</a:t>
            </a:r>
          </a:p>
        </p:txBody>
      </p:sp>
      <p:sp>
        <p:nvSpPr>
          <p:cNvPr id="143" name="matrix-h-3"/>
          <p:cNvSpPr/>
          <p:nvPr/>
        </p:nvSpPr>
        <p:spPr>
          <a:xfrm>
            <a:off x="5867400" y="1809750"/>
            <a:ext cx="238125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4" name="Student team manages"/>
          <p:cNvSpPr txBox="1"/>
          <p:nvPr/>
        </p:nvSpPr>
        <p:spPr>
          <a:xfrm>
            <a:off x="5989319" y="1971675"/>
            <a:ext cx="213741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Student team manages</a:t>
            </a:r>
          </a:p>
        </p:txBody>
      </p:sp>
      <p:sp>
        <p:nvSpPr>
          <p:cNvPr id="145" name="matrix-h-4"/>
          <p:cNvSpPr/>
          <p:nvPr/>
        </p:nvSpPr>
        <p:spPr>
          <a:xfrm>
            <a:off x="8248650" y="1809750"/>
            <a:ext cx="247650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6" name="Why this fits"/>
          <p:cNvSpPr txBox="1"/>
          <p:nvPr/>
        </p:nvSpPr>
        <p:spPr>
          <a:xfrm>
            <a:off x="8370569" y="1971675"/>
            <a:ext cx="2232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Why this fits</a:t>
            </a:r>
          </a:p>
        </p:txBody>
      </p:sp>
      <p:sp>
        <p:nvSpPr>
          <p:cNvPr id="147" name="matrix-0-0"/>
          <p:cNvSpPr/>
          <p:nvPr/>
        </p:nvSpPr>
        <p:spPr>
          <a:xfrm>
            <a:off x="723900" y="2305050"/>
            <a:ext cx="1714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8" name="Frontend hosting"/>
          <p:cNvSpPr txBox="1"/>
          <p:nvPr/>
        </p:nvSpPr>
        <p:spPr>
          <a:xfrm>
            <a:off x="845819" y="24574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Frontend hosting</a:t>
            </a:r>
          </a:p>
        </p:txBody>
      </p:sp>
      <p:sp>
        <p:nvSpPr>
          <p:cNvPr id="149" name="matrix-0-1"/>
          <p:cNvSpPr/>
          <p:nvPr/>
        </p:nvSpPr>
        <p:spPr>
          <a:xfrm>
            <a:off x="2438400" y="2305050"/>
            <a:ext cx="1143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pPr algn="ctr"/>
            <a:r>
              <a:rPr lang="en-US" dirty="0"/>
              <a:t>Saas</a:t>
            </a:r>
          </a:p>
          <a:p>
            <a:endParaRPr dirty="0"/>
          </a:p>
        </p:txBody>
      </p:sp>
      <p:sp>
        <p:nvSpPr>
          <p:cNvPr id="150" name="matrix-0-2"/>
          <p:cNvSpPr/>
          <p:nvPr/>
        </p:nvSpPr>
        <p:spPr>
          <a:xfrm>
            <a:off x="3581400" y="2305050"/>
            <a:ext cx="2286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pPr algn="ctr"/>
            <a:r>
              <a:rPr lang="en-US" dirty="0"/>
              <a:t>Application Hosting</a:t>
            </a:r>
            <a:endParaRPr dirty="0"/>
          </a:p>
        </p:txBody>
      </p:sp>
      <p:sp>
        <p:nvSpPr>
          <p:cNvPr id="151" name="matrix-0-3"/>
          <p:cNvSpPr/>
          <p:nvPr/>
        </p:nvSpPr>
        <p:spPr>
          <a:xfrm>
            <a:off x="5867400" y="2305050"/>
            <a:ext cx="238125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pPr algn="ctr"/>
            <a:r>
              <a:rPr lang="en-US" dirty="0"/>
              <a:t>UI and features </a:t>
            </a:r>
            <a:endParaRPr dirty="0"/>
          </a:p>
        </p:txBody>
      </p:sp>
      <p:sp>
        <p:nvSpPr>
          <p:cNvPr id="152" name="matrix-0-4"/>
          <p:cNvSpPr/>
          <p:nvPr/>
        </p:nvSpPr>
        <p:spPr>
          <a:xfrm>
            <a:off x="8248650" y="2305050"/>
            <a:ext cx="2476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pPr algn="ctr"/>
            <a:r>
              <a:rPr lang="en-US" dirty="0"/>
              <a:t>Easy access through web/mobile</a:t>
            </a:r>
            <a:endParaRPr dirty="0"/>
          </a:p>
        </p:txBody>
      </p:sp>
      <p:sp>
        <p:nvSpPr>
          <p:cNvPr id="153" name="matrix-1-0"/>
          <p:cNvSpPr/>
          <p:nvPr/>
        </p:nvSpPr>
        <p:spPr>
          <a:xfrm>
            <a:off x="723900" y="2800350"/>
            <a:ext cx="1714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4" name="Backend/API"/>
          <p:cNvSpPr txBox="1"/>
          <p:nvPr/>
        </p:nvSpPr>
        <p:spPr>
          <a:xfrm>
            <a:off x="845819" y="29527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Backend/API</a:t>
            </a:r>
          </a:p>
        </p:txBody>
      </p:sp>
      <p:sp>
        <p:nvSpPr>
          <p:cNvPr id="155" name="matrix-1-1"/>
          <p:cNvSpPr/>
          <p:nvPr/>
        </p:nvSpPr>
        <p:spPr>
          <a:xfrm>
            <a:off x="2438400" y="2800350"/>
            <a:ext cx="1143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pPr algn="ctr"/>
            <a:r>
              <a:rPr lang="en-US" dirty="0"/>
              <a:t>Paas</a:t>
            </a:r>
            <a:endParaRPr dirty="0"/>
          </a:p>
        </p:txBody>
      </p:sp>
      <p:sp>
        <p:nvSpPr>
          <p:cNvPr id="156" name="matrix-1-2"/>
          <p:cNvSpPr/>
          <p:nvPr/>
        </p:nvSpPr>
        <p:spPr>
          <a:xfrm>
            <a:off x="3581400" y="2800350"/>
            <a:ext cx="2286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pPr algn="ctr"/>
            <a:r>
              <a:rPr lang="en-US" dirty="0"/>
              <a:t>Runtime , Servers</a:t>
            </a:r>
            <a:endParaRPr dirty="0"/>
          </a:p>
        </p:txBody>
      </p:sp>
      <p:sp>
        <p:nvSpPr>
          <p:cNvPr id="157" name="matrix-1-3"/>
          <p:cNvSpPr/>
          <p:nvPr/>
        </p:nvSpPr>
        <p:spPr>
          <a:xfrm>
            <a:off x="5867400" y="2800350"/>
            <a:ext cx="23812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pPr algn="ctr"/>
            <a:r>
              <a:rPr lang="en-US" dirty="0"/>
              <a:t>API and business logic</a:t>
            </a:r>
            <a:endParaRPr dirty="0"/>
          </a:p>
        </p:txBody>
      </p:sp>
      <p:sp>
        <p:nvSpPr>
          <p:cNvPr id="158" name="matrix-1-4"/>
          <p:cNvSpPr/>
          <p:nvPr/>
        </p:nvSpPr>
        <p:spPr>
          <a:xfrm>
            <a:off x="8248650" y="2800350"/>
            <a:ext cx="2476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pPr algn="ctr"/>
            <a:r>
              <a:rPr lang="en-US" dirty="0"/>
              <a:t>Faster Application development</a:t>
            </a:r>
            <a:endParaRPr dirty="0"/>
          </a:p>
        </p:txBody>
      </p:sp>
      <p:sp>
        <p:nvSpPr>
          <p:cNvPr id="159" name="matrix-2-0"/>
          <p:cNvSpPr/>
          <p:nvPr/>
        </p:nvSpPr>
        <p:spPr>
          <a:xfrm>
            <a:off x="723900" y="3295650"/>
            <a:ext cx="1714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0" name="Database"/>
          <p:cNvSpPr txBox="1"/>
          <p:nvPr/>
        </p:nvSpPr>
        <p:spPr>
          <a:xfrm>
            <a:off x="845819" y="34480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Database</a:t>
            </a:r>
          </a:p>
        </p:txBody>
      </p:sp>
      <p:sp>
        <p:nvSpPr>
          <p:cNvPr id="161" name="matrix-2-1"/>
          <p:cNvSpPr/>
          <p:nvPr/>
        </p:nvSpPr>
        <p:spPr>
          <a:xfrm>
            <a:off x="2438400" y="3295650"/>
            <a:ext cx="1143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pPr algn="ctr"/>
            <a:r>
              <a:rPr lang="en-US" dirty="0"/>
              <a:t>PaaS</a:t>
            </a:r>
            <a:endParaRPr dirty="0"/>
          </a:p>
        </p:txBody>
      </p:sp>
      <p:sp>
        <p:nvSpPr>
          <p:cNvPr id="162" name="matrix-2-2"/>
          <p:cNvSpPr/>
          <p:nvPr/>
        </p:nvSpPr>
        <p:spPr>
          <a:xfrm>
            <a:off x="3581400" y="3295650"/>
            <a:ext cx="2286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pPr algn="ctr"/>
            <a:r>
              <a:rPr lang="en-US" dirty="0"/>
              <a:t>Database server, backup</a:t>
            </a:r>
            <a:endParaRPr dirty="0"/>
          </a:p>
        </p:txBody>
      </p:sp>
      <p:sp>
        <p:nvSpPr>
          <p:cNvPr id="163" name="matrix-2-3"/>
          <p:cNvSpPr/>
          <p:nvPr/>
        </p:nvSpPr>
        <p:spPr>
          <a:xfrm>
            <a:off x="5867400" y="3295650"/>
            <a:ext cx="238125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pPr algn="ctr"/>
            <a:r>
              <a:rPr lang="en-US" dirty="0"/>
              <a:t>Patient and Appointment data</a:t>
            </a:r>
            <a:endParaRPr dirty="0"/>
          </a:p>
        </p:txBody>
      </p:sp>
      <p:sp>
        <p:nvSpPr>
          <p:cNvPr id="164" name="matrix-2-4"/>
          <p:cNvSpPr/>
          <p:nvPr/>
        </p:nvSpPr>
        <p:spPr>
          <a:xfrm>
            <a:off x="8248650" y="3295650"/>
            <a:ext cx="2476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pPr algn="ctr"/>
            <a:r>
              <a:rPr lang="en-US" dirty="0"/>
              <a:t>Secure and Scalable storage</a:t>
            </a:r>
            <a:endParaRPr dirty="0"/>
          </a:p>
        </p:txBody>
      </p:sp>
      <p:sp>
        <p:nvSpPr>
          <p:cNvPr id="165" name="matrix-3-0"/>
          <p:cNvSpPr/>
          <p:nvPr/>
        </p:nvSpPr>
        <p:spPr>
          <a:xfrm>
            <a:off x="723900" y="3790950"/>
            <a:ext cx="1714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6" name="Storage"/>
          <p:cNvSpPr txBox="1"/>
          <p:nvPr/>
        </p:nvSpPr>
        <p:spPr>
          <a:xfrm>
            <a:off x="845819" y="39433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Storage</a:t>
            </a:r>
          </a:p>
        </p:txBody>
      </p:sp>
      <p:sp>
        <p:nvSpPr>
          <p:cNvPr id="167" name="matrix-3-1"/>
          <p:cNvSpPr/>
          <p:nvPr/>
        </p:nvSpPr>
        <p:spPr>
          <a:xfrm>
            <a:off x="2438400" y="3790950"/>
            <a:ext cx="1143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pPr algn="ctr"/>
            <a:r>
              <a:rPr lang="en-US" dirty="0" err="1"/>
              <a:t>laaS</a:t>
            </a:r>
            <a:endParaRPr dirty="0"/>
          </a:p>
        </p:txBody>
      </p:sp>
      <p:sp>
        <p:nvSpPr>
          <p:cNvPr id="168" name="matrix-3-2"/>
          <p:cNvSpPr/>
          <p:nvPr/>
        </p:nvSpPr>
        <p:spPr>
          <a:xfrm>
            <a:off x="3581400" y="3790950"/>
            <a:ext cx="2286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pPr algn="ctr"/>
            <a:r>
              <a:rPr lang="en-US" dirty="0"/>
              <a:t>Cloud storage </a:t>
            </a:r>
            <a:endParaRPr dirty="0"/>
          </a:p>
        </p:txBody>
      </p:sp>
      <p:sp>
        <p:nvSpPr>
          <p:cNvPr id="169" name="matrix-3-3"/>
          <p:cNvSpPr/>
          <p:nvPr/>
        </p:nvSpPr>
        <p:spPr>
          <a:xfrm>
            <a:off x="5867400" y="3790950"/>
            <a:ext cx="23812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pPr algn="ctr"/>
            <a:r>
              <a:rPr lang="en-US" dirty="0"/>
              <a:t>Upload reports and documents</a:t>
            </a:r>
            <a:endParaRPr dirty="0"/>
          </a:p>
        </p:txBody>
      </p:sp>
      <p:sp>
        <p:nvSpPr>
          <p:cNvPr id="170" name="matrix-3-4"/>
          <p:cNvSpPr/>
          <p:nvPr/>
        </p:nvSpPr>
        <p:spPr>
          <a:xfrm>
            <a:off x="8248650" y="3790950"/>
            <a:ext cx="2476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pPr algn="ctr"/>
            <a:r>
              <a:rPr lang="en-US" dirty="0"/>
              <a:t>Reliable data storage </a:t>
            </a:r>
            <a:endParaRPr dirty="0"/>
          </a:p>
        </p:txBody>
      </p:sp>
      <p:sp>
        <p:nvSpPr>
          <p:cNvPr id="171" name="matrix-4-0"/>
          <p:cNvSpPr/>
          <p:nvPr/>
        </p:nvSpPr>
        <p:spPr>
          <a:xfrm>
            <a:off x="723900" y="4286250"/>
            <a:ext cx="1714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72" name="Monitoring / logs"/>
          <p:cNvSpPr txBox="1"/>
          <p:nvPr/>
        </p:nvSpPr>
        <p:spPr>
          <a:xfrm>
            <a:off x="845819" y="44386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Monitoring / logs</a:t>
            </a:r>
          </a:p>
        </p:txBody>
      </p:sp>
      <p:sp>
        <p:nvSpPr>
          <p:cNvPr id="173" name="matrix-4-1"/>
          <p:cNvSpPr/>
          <p:nvPr/>
        </p:nvSpPr>
        <p:spPr>
          <a:xfrm>
            <a:off x="2316481" y="4333786"/>
            <a:ext cx="1312544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pPr algn="ctr"/>
            <a:r>
              <a:rPr lang="en-US" dirty="0"/>
              <a:t>PaaS</a:t>
            </a:r>
            <a:endParaRPr dirty="0"/>
          </a:p>
        </p:txBody>
      </p:sp>
      <p:sp>
        <p:nvSpPr>
          <p:cNvPr id="174" name="matrix-4-2"/>
          <p:cNvSpPr/>
          <p:nvPr/>
        </p:nvSpPr>
        <p:spPr>
          <a:xfrm>
            <a:off x="3581400" y="4286250"/>
            <a:ext cx="2286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pPr algn="ctr"/>
            <a:r>
              <a:rPr lang="en-US" dirty="0"/>
              <a:t>Monitoring tools</a:t>
            </a:r>
            <a:endParaRPr dirty="0"/>
          </a:p>
        </p:txBody>
      </p:sp>
      <p:sp>
        <p:nvSpPr>
          <p:cNvPr id="175" name="matrix-4-3"/>
          <p:cNvSpPr/>
          <p:nvPr/>
        </p:nvSpPr>
        <p:spPr>
          <a:xfrm>
            <a:off x="5962650" y="4286250"/>
            <a:ext cx="2286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pPr algn="ctr"/>
            <a:r>
              <a:rPr lang="en-US" dirty="0"/>
              <a:t>Review logs and Performance </a:t>
            </a:r>
            <a:endParaRPr dirty="0"/>
          </a:p>
        </p:txBody>
      </p:sp>
      <p:sp>
        <p:nvSpPr>
          <p:cNvPr id="176" name="matrix-4-4"/>
          <p:cNvSpPr/>
          <p:nvPr/>
        </p:nvSpPr>
        <p:spPr>
          <a:xfrm>
            <a:off x="8248650" y="4286250"/>
            <a:ext cx="2476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pPr algn="ctr"/>
            <a:r>
              <a:rPr lang="en-US" dirty="0"/>
              <a:t>Detects issues quickly </a:t>
            </a:r>
            <a:endParaRPr dirty="0"/>
          </a:p>
        </p:txBody>
      </p:sp>
      <p:sp>
        <p:nvSpPr>
          <p:cNvPr id="177" name="matrix-5-0"/>
          <p:cNvSpPr/>
          <p:nvPr/>
        </p:nvSpPr>
        <p:spPr>
          <a:xfrm>
            <a:off x="723900" y="4781550"/>
            <a:ext cx="1714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78" name="Security / IAM"/>
          <p:cNvSpPr txBox="1"/>
          <p:nvPr/>
        </p:nvSpPr>
        <p:spPr>
          <a:xfrm>
            <a:off x="845819" y="49339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Security / IAM</a:t>
            </a:r>
          </a:p>
        </p:txBody>
      </p:sp>
      <p:sp>
        <p:nvSpPr>
          <p:cNvPr id="179" name="matrix-5-1"/>
          <p:cNvSpPr/>
          <p:nvPr/>
        </p:nvSpPr>
        <p:spPr>
          <a:xfrm>
            <a:off x="2438400" y="4781550"/>
            <a:ext cx="1143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pPr algn="ctr"/>
            <a:r>
              <a:rPr lang="en-US" dirty="0"/>
              <a:t>SaaS</a:t>
            </a:r>
            <a:endParaRPr dirty="0"/>
          </a:p>
        </p:txBody>
      </p:sp>
      <p:sp>
        <p:nvSpPr>
          <p:cNvPr id="180" name="matrix-5-2"/>
          <p:cNvSpPr/>
          <p:nvPr/>
        </p:nvSpPr>
        <p:spPr>
          <a:xfrm>
            <a:off x="3581400" y="4781550"/>
            <a:ext cx="2286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pPr algn="ctr"/>
            <a:r>
              <a:rPr lang="en-US" dirty="0"/>
              <a:t>Authentication service</a:t>
            </a:r>
            <a:endParaRPr dirty="0"/>
          </a:p>
        </p:txBody>
      </p:sp>
      <p:sp>
        <p:nvSpPr>
          <p:cNvPr id="181" name="matrix-5-3"/>
          <p:cNvSpPr/>
          <p:nvPr/>
        </p:nvSpPr>
        <p:spPr>
          <a:xfrm>
            <a:off x="5867400" y="4781550"/>
            <a:ext cx="23812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pPr algn="ctr"/>
            <a:r>
              <a:rPr lang="en-US" dirty="0"/>
              <a:t>User roles and permissions</a:t>
            </a:r>
            <a:endParaRPr dirty="0"/>
          </a:p>
        </p:txBody>
      </p:sp>
      <p:sp>
        <p:nvSpPr>
          <p:cNvPr id="182" name="matrix-5-4"/>
          <p:cNvSpPr/>
          <p:nvPr/>
        </p:nvSpPr>
        <p:spPr>
          <a:xfrm>
            <a:off x="8248650" y="4781550"/>
            <a:ext cx="2476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US" dirty="0"/>
              <a:t>Secure user access</a:t>
            </a:r>
            <a:endParaRPr dirty="0"/>
          </a:p>
        </p:txBody>
      </p:sp>
      <p:sp>
        <p:nvSpPr>
          <p:cNvPr id="184" name="Guidance - delete before presentation: Mention only services that fit your capstone. Defend responsibility split orally."/>
          <p:cNvSpPr txBox="1"/>
          <p:nvPr/>
        </p:nvSpPr>
        <p:spPr>
          <a:xfrm>
            <a:off x="1150619" y="5934075"/>
            <a:ext cx="989076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8A4B18"/>
                </a:solidFill>
              </a:defRPr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89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190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192" name="CO1 AT3 | 06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06</a:t>
            </a:r>
          </a:p>
        </p:txBody>
      </p:sp>
      <p:sp>
        <p:nvSpPr>
          <p:cNvPr id="193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Data Flow and Analytics Pipeline</a:t>
            </a:r>
          </a:p>
        </p:txBody>
      </p:sp>
      <p:sp>
        <p:nvSpPr>
          <p:cNvPr id="194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The product data moves from user activity to useful insight</a:t>
            </a:r>
          </a:p>
        </p:txBody>
      </p:sp>
      <p:sp>
        <p:nvSpPr>
          <p:cNvPr id="195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196" name="flow-0"/>
          <p:cNvSpPr/>
          <p:nvPr/>
        </p:nvSpPr>
        <p:spPr>
          <a:xfrm>
            <a:off x="10668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97" name="Collect"/>
          <p:cNvSpPr txBox="1"/>
          <p:nvPr/>
        </p:nvSpPr>
        <p:spPr>
          <a:xfrm>
            <a:off x="1245869" y="1905000"/>
            <a:ext cx="99441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t>Collect</a:t>
            </a:r>
          </a:p>
        </p:txBody>
      </p:sp>
      <p:sp>
        <p:nvSpPr>
          <p:cNvPr id="198" name="flow-line-0"/>
          <p:cNvSpPr/>
          <p:nvPr/>
        </p:nvSpPr>
        <p:spPr>
          <a:xfrm>
            <a:off x="2495550" y="2000250"/>
            <a:ext cx="51435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99" name="flow-1"/>
          <p:cNvSpPr/>
          <p:nvPr/>
        </p:nvSpPr>
        <p:spPr>
          <a:xfrm>
            <a:off x="30480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0" name="Ingest"/>
          <p:cNvSpPr txBox="1"/>
          <p:nvPr/>
        </p:nvSpPr>
        <p:spPr>
          <a:xfrm>
            <a:off x="3227069" y="1905000"/>
            <a:ext cx="99441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t>Ingest</a:t>
            </a:r>
          </a:p>
        </p:txBody>
      </p:sp>
      <p:sp>
        <p:nvSpPr>
          <p:cNvPr id="201" name="flow-line-1"/>
          <p:cNvSpPr/>
          <p:nvPr/>
        </p:nvSpPr>
        <p:spPr>
          <a:xfrm>
            <a:off x="4476750" y="2000250"/>
            <a:ext cx="51435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02" name="flow-2"/>
          <p:cNvSpPr/>
          <p:nvPr/>
        </p:nvSpPr>
        <p:spPr>
          <a:xfrm>
            <a:off x="50292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3" name="Store"/>
          <p:cNvSpPr txBox="1"/>
          <p:nvPr/>
        </p:nvSpPr>
        <p:spPr>
          <a:xfrm>
            <a:off x="5208269" y="1905000"/>
            <a:ext cx="99441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t>Store</a:t>
            </a:r>
          </a:p>
        </p:txBody>
      </p:sp>
      <p:sp>
        <p:nvSpPr>
          <p:cNvPr id="204" name="flow-line-2"/>
          <p:cNvSpPr/>
          <p:nvPr/>
        </p:nvSpPr>
        <p:spPr>
          <a:xfrm>
            <a:off x="6457950" y="2000250"/>
            <a:ext cx="51435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05" name="flow-3"/>
          <p:cNvSpPr/>
          <p:nvPr/>
        </p:nvSpPr>
        <p:spPr>
          <a:xfrm>
            <a:off x="70104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6" name="Process"/>
          <p:cNvSpPr txBox="1"/>
          <p:nvPr/>
        </p:nvSpPr>
        <p:spPr>
          <a:xfrm>
            <a:off x="7189469" y="1905000"/>
            <a:ext cx="99441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t>Process</a:t>
            </a:r>
          </a:p>
        </p:txBody>
      </p:sp>
      <p:sp>
        <p:nvSpPr>
          <p:cNvPr id="207" name="flow-line-3"/>
          <p:cNvSpPr/>
          <p:nvPr/>
        </p:nvSpPr>
        <p:spPr>
          <a:xfrm>
            <a:off x="8439150" y="2000250"/>
            <a:ext cx="51435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08" name="flow-4"/>
          <p:cNvSpPr/>
          <p:nvPr/>
        </p:nvSpPr>
        <p:spPr>
          <a:xfrm>
            <a:off x="89916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9" name="Visualize"/>
          <p:cNvSpPr txBox="1"/>
          <p:nvPr/>
        </p:nvSpPr>
        <p:spPr>
          <a:xfrm>
            <a:off x="9170669" y="1905000"/>
            <a:ext cx="99441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t>Visualize</a:t>
            </a:r>
          </a:p>
        </p:txBody>
      </p:sp>
      <p:sp>
        <p:nvSpPr>
          <p:cNvPr id="210" name="Data Requirements-panel"/>
          <p:cNvSpPr/>
          <p:nvPr/>
        </p:nvSpPr>
        <p:spPr>
          <a:xfrm>
            <a:off x="723900" y="3238499"/>
            <a:ext cx="3143250" cy="1405667"/>
          </a:xfrm>
          <a:prstGeom prst="roundRect">
            <a:avLst>
              <a:gd name="adj" fmla="val 6349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11" name="Data Requirements-bar"/>
          <p:cNvSpPr/>
          <p:nvPr/>
        </p:nvSpPr>
        <p:spPr>
          <a:xfrm>
            <a:off x="723900" y="3238500"/>
            <a:ext cx="3143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12" name="Data Requirements"/>
          <p:cNvSpPr txBox="1"/>
          <p:nvPr/>
        </p:nvSpPr>
        <p:spPr>
          <a:xfrm>
            <a:off x="941069" y="3429000"/>
            <a:ext cx="2708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Data Requirements</a:t>
            </a:r>
          </a:p>
        </p:txBody>
      </p:sp>
      <p:sp>
        <p:nvSpPr>
          <p:cNvPr id="213" name="User data, events, logs, files, sensor data, or transactions."/>
          <p:cNvSpPr txBox="1"/>
          <p:nvPr/>
        </p:nvSpPr>
        <p:spPr>
          <a:xfrm>
            <a:off x="723900" y="3729594"/>
            <a:ext cx="2926081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 appointment, queue, and attendance data to predict waiting times and no-show probability.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14" name="Analytics Requirement-panel"/>
          <p:cNvSpPr/>
          <p:nvPr/>
        </p:nvSpPr>
        <p:spPr>
          <a:xfrm>
            <a:off x="4362450" y="3238500"/>
            <a:ext cx="3143250" cy="1439302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15" name="Analytics Requirement-bar"/>
          <p:cNvSpPr/>
          <p:nvPr/>
        </p:nvSpPr>
        <p:spPr>
          <a:xfrm>
            <a:off x="4362450" y="3238500"/>
            <a:ext cx="3143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16" name="Analytics Requirement"/>
          <p:cNvSpPr txBox="1"/>
          <p:nvPr/>
        </p:nvSpPr>
        <p:spPr>
          <a:xfrm>
            <a:off x="4579619" y="3429000"/>
            <a:ext cx="2708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Analytics Requirement</a:t>
            </a:r>
          </a:p>
        </p:txBody>
      </p:sp>
      <p:sp>
        <p:nvSpPr>
          <p:cNvPr id="217" name="Dashboard, alert, prediction, report, trend, or decision support."/>
          <p:cNvSpPr txBox="1"/>
          <p:nvPr/>
        </p:nvSpPr>
        <p:spPr>
          <a:xfrm>
            <a:off x="4579619" y="3829050"/>
            <a:ext cx="2708912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appointment and queue data to predict patient no-shows and estimate waiting times for better hospital queue management.</a:t>
            </a:r>
          </a:p>
          <a:p>
            <a:endParaRPr dirty="0"/>
          </a:p>
        </p:txBody>
      </p:sp>
      <p:sp>
        <p:nvSpPr>
          <p:cNvPr id="218" name="Proof Required-panel"/>
          <p:cNvSpPr/>
          <p:nvPr/>
        </p:nvSpPr>
        <p:spPr>
          <a:xfrm>
            <a:off x="8001000" y="3238500"/>
            <a:ext cx="3143250" cy="2941796"/>
          </a:xfrm>
          <a:prstGeom prst="roundRect">
            <a:avLst>
              <a:gd name="adj" fmla="val 6349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19" name="Proof Required-bar"/>
          <p:cNvSpPr/>
          <p:nvPr/>
        </p:nvSpPr>
        <p:spPr>
          <a:xfrm>
            <a:off x="8001000" y="3238500"/>
            <a:ext cx="3143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0" name="Proof Required"/>
          <p:cNvSpPr txBox="1"/>
          <p:nvPr/>
        </p:nvSpPr>
        <p:spPr>
          <a:xfrm>
            <a:off x="8218169" y="3429000"/>
            <a:ext cx="2708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Proof Required</a:t>
            </a:r>
          </a:p>
        </p:txBody>
      </p:sp>
      <p:sp>
        <p:nvSpPr>
          <p:cNvPr id="221" name="Sample input, sample output, and one insight generated."/>
          <p:cNvSpPr txBox="1"/>
          <p:nvPr/>
        </p:nvSpPr>
        <p:spPr>
          <a:xfrm>
            <a:off x="8218169" y="3829050"/>
            <a:ext cx="2708912" cy="212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 appointment and queue data.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attendance patterns and current queue status.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Predicted no-show probability and estimated waiting time.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hospitals reduce missed appointments and improve OP queue efficiency. 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23" name="Guidance - delete before presentation: Show the data story. Big data analytics is optional, but the data path must be logical."/>
          <p:cNvSpPr txBox="1"/>
          <p:nvPr/>
        </p:nvSpPr>
        <p:spPr>
          <a:xfrm>
            <a:off x="1150619" y="5934075"/>
            <a:ext cx="989076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8A4B18"/>
                </a:solidFill>
              </a:defRPr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8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29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230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231" name="CO1 AT3 | 07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07</a:t>
            </a:r>
          </a:p>
        </p:txBody>
      </p:sp>
      <p:sp>
        <p:nvSpPr>
          <p:cNvPr id="232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Python / AI Module Integration</a:t>
            </a:r>
          </a:p>
        </p:txBody>
      </p:sp>
      <p:sp>
        <p:nvSpPr>
          <p:cNvPr id="233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Python or AI adds intelligence where the product needs it</a:t>
            </a:r>
          </a:p>
        </p:txBody>
      </p:sp>
      <p:sp>
        <p:nvSpPr>
          <p:cNvPr id="234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235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36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37" name="Python Role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Python Role</a:t>
            </a:r>
          </a:p>
        </p:txBody>
      </p:sp>
      <p:sp>
        <p:nvSpPr>
          <p:cNvPr id="238" name="Prediction, automation, analytics, OCR, NLP, or reporting."/>
          <p:cNvSpPr txBox="1"/>
          <p:nvPr/>
        </p:nvSpPr>
        <p:spPr>
          <a:xfrm>
            <a:off x="998219" y="2190750"/>
            <a:ext cx="4099562" cy="7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patient no-shows and estimates waiting times using AI.</a:t>
            </a:r>
          </a:p>
          <a:p>
            <a:endParaRPr dirty="0"/>
          </a:p>
        </p:txBody>
      </p:sp>
      <p:sp>
        <p:nvSpPr>
          <p:cNvPr id="239" name="section-1"/>
          <p:cNvSpPr/>
          <p:nvPr/>
        </p:nvSpPr>
        <p:spPr>
          <a:xfrm>
            <a:off x="6162675" y="1567376"/>
            <a:ext cx="4762500" cy="1457541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40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1" name="Input and Output"/>
          <p:cNvSpPr txBox="1"/>
          <p:nvPr/>
        </p:nvSpPr>
        <p:spPr>
          <a:xfrm>
            <a:off x="6324600" y="1610752"/>
            <a:ext cx="418338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rPr dirty="0"/>
              <a:t>Input and Output</a:t>
            </a:r>
          </a:p>
        </p:txBody>
      </p:sp>
      <p:sp>
        <p:nvSpPr>
          <p:cNvPr id="242" name="What data enters the module and what result comes out?"/>
          <p:cNvSpPr txBox="1"/>
          <p:nvPr/>
        </p:nvSpPr>
        <p:spPr>
          <a:xfrm>
            <a:off x="6324600" y="2062075"/>
            <a:ext cx="4099562" cy="1138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 appointment details, queue status, and attendance history.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Predicted no-show probability and estimated waiting time.</a:t>
            </a:r>
          </a:p>
          <a:p>
            <a:endParaRPr dirty="0"/>
          </a:p>
        </p:txBody>
      </p:sp>
      <p:sp>
        <p:nvSpPr>
          <p:cNvPr id="243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44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5" name="Execution Point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Execution Point</a:t>
            </a:r>
          </a:p>
        </p:txBody>
      </p:sp>
      <p:sp>
        <p:nvSpPr>
          <p:cNvPr id="246" name="API endpoint, serverless function, container, notebook, or scheduled job."/>
          <p:cNvSpPr txBox="1"/>
          <p:nvPr/>
        </p:nvSpPr>
        <p:spPr>
          <a:xfrm>
            <a:off x="998219" y="3829050"/>
            <a:ext cx="4099562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appointment and queue data to generate no-show predictions and waiting time estimates.</a:t>
            </a:r>
          </a:p>
          <a:p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7" name="section-3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48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9" name="Product Value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Product Value</a:t>
            </a:r>
          </a:p>
        </p:txBody>
      </p:sp>
      <p:sp>
        <p:nvSpPr>
          <p:cNvPr id="250" name="How does this module improve user experience or decision-making?"/>
          <p:cNvSpPr txBox="1"/>
          <p:nvPr/>
        </p:nvSpPr>
        <p:spPr>
          <a:xfrm>
            <a:off x="6408419" y="3829050"/>
            <a:ext cx="4099562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sz="1400" dirty="0"/>
              <a:t>Reduces patient waiting time and improves hospital queue management.</a:t>
            </a:r>
            <a:endParaRPr sz="1400" dirty="0"/>
          </a:p>
        </p:txBody>
      </p:sp>
      <p:sp>
        <p:nvSpPr>
          <p:cNvPr id="252" name="Guidance - delete before presentation: If AI is not needed, present a Python automation or analytics component."/>
          <p:cNvSpPr txBox="1"/>
          <p:nvPr/>
        </p:nvSpPr>
        <p:spPr>
          <a:xfrm>
            <a:off x="1150619" y="5934075"/>
            <a:ext cx="989076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8A4B18"/>
                </a:solidFill>
              </a:defRPr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7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58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259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260" name="CO1 AT3 | 08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08</a:t>
            </a:r>
          </a:p>
        </p:txBody>
      </p:sp>
      <p:sp>
        <p:nvSpPr>
          <p:cNvPr id="261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Security, Scalability, Privacy and Cost Design</a:t>
            </a:r>
          </a:p>
        </p:txBody>
      </p:sp>
      <p:sp>
        <p:nvSpPr>
          <p:cNvPr id="262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Security, scale, privacy and cost shape the final design</a:t>
            </a:r>
          </a:p>
        </p:txBody>
      </p:sp>
      <p:sp>
        <p:nvSpPr>
          <p:cNvPr id="263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264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65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6" name="Security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Security</a:t>
            </a:r>
          </a:p>
        </p:txBody>
      </p:sp>
      <p:sp>
        <p:nvSpPr>
          <p:cNvPr id="267" name="Authentication, roles, validation, audit trail."/>
          <p:cNvSpPr txBox="1"/>
          <p:nvPr/>
        </p:nvSpPr>
        <p:spPr>
          <a:xfrm>
            <a:off x="951885" y="2091294"/>
            <a:ext cx="4145896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 patient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only authorized users.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 access to sensitive information.</a:t>
            </a:r>
          </a:p>
          <a:p>
            <a:endParaRPr dirty="0"/>
          </a:p>
        </p:txBody>
      </p:sp>
      <p:sp>
        <p:nvSpPr>
          <p:cNvPr id="268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69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0" name="Privacy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Privacy</a:t>
            </a:r>
          </a:p>
        </p:txBody>
      </p:sp>
      <p:sp>
        <p:nvSpPr>
          <p:cNvPr id="271" name="Sensitive data, consent, anonymization, access limits."/>
          <p:cNvSpPr txBox="1"/>
          <p:nvPr/>
        </p:nvSpPr>
        <p:spPr>
          <a:xfrm>
            <a:off x="6408419" y="2190750"/>
            <a:ext cx="4099562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patient information confidential.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only necessary patient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Obtain patient consent before sharing data.</a:t>
            </a:r>
          </a:p>
          <a:p>
            <a:endParaRPr dirty="0"/>
          </a:p>
        </p:txBody>
      </p:sp>
      <p:sp>
        <p:nvSpPr>
          <p:cNvPr id="272" name="section-2"/>
          <p:cNvSpPr/>
          <p:nvPr/>
        </p:nvSpPr>
        <p:spPr>
          <a:xfrm>
            <a:off x="752475" y="3217574"/>
            <a:ext cx="4762500" cy="1389623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73" name="section-accent-2"/>
          <p:cNvSpPr/>
          <p:nvPr/>
        </p:nvSpPr>
        <p:spPr>
          <a:xfrm>
            <a:off x="781050" y="3238500"/>
            <a:ext cx="80010" cy="1352105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4" name="Scalability"/>
          <p:cNvSpPr txBox="1"/>
          <p:nvPr/>
        </p:nvSpPr>
        <p:spPr>
          <a:xfrm>
            <a:off x="998219" y="3429000"/>
            <a:ext cx="4099562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rPr dirty="0"/>
              <a:t>Scalability</a:t>
            </a:r>
          </a:p>
        </p:txBody>
      </p:sp>
      <p:sp>
        <p:nvSpPr>
          <p:cNvPr id="275" name="How will users grow without redesign?"/>
          <p:cNvSpPr txBox="1"/>
          <p:nvPr/>
        </p:nvSpPr>
        <p:spPr>
          <a:xfrm>
            <a:off x="932221" y="3767554"/>
            <a:ext cx="416556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more patients and appointments.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increasing user traffic.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Expands services without reducing performance.</a:t>
            </a:r>
          </a:p>
          <a:p>
            <a:endParaRPr dirty="0"/>
          </a:p>
        </p:txBody>
      </p:sp>
      <p:sp>
        <p:nvSpPr>
          <p:cNvPr id="276" name="section-3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77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8" name="Cost Awareness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Cost Awareness</a:t>
            </a:r>
          </a:p>
        </p:txBody>
      </p:sp>
      <p:sp>
        <p:nvSpPr>
          <p:cNvPr id="279" name="Free tier, managed services, storage/API usage limits."/>
          <p:cNvSpPr txBox="1"/>
          <p:nvPr/>
        </p:nvSpPr>
        <p:spPr>
          <a:xfrm>
            <a:off x="6324600" y="3710360"/>
            <a:ext cx="4099562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operational costs.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Minimizes resource wastage.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staff and hospital resources.</a:t>
            </a:r>
          </a:p>
          <a:p>
            <a:endParaRPr dirty="0"/>
          </a:p>
        </p:txBody>
      </p:sp>
      <p:sp>
        <p:nvSpPr>
          <p:cNvPr id="281" name="Guidance - delete before presentation: Present decisions, not generic definitions. Tie every point to the capstone."/>
          <p:cNvSpPr txBox="1"/>
          <p:nvPr/>
        </p:nvSpPr>
        <p:spPr>
          <a:xfrm>
            <a:off x="1150619" y="5934075"/>
            <a:ext cx="989076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8A4B18"/>
                </a:solidFill>
              </a:defRPr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6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87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288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289" name="CO1 AT3 | 09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09</a:t>
            </a:r>
          </a:p>
        </p:txBody>
      </p:sp>
      <p:sp>
        <p:nvSpPr>
          <p:cNvPr id="290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Implementation Stack and Deployment Evidence</a:t>
            </a:r>
          </a:p>
        </p:txBody>
      </p:sp>
      <p:sp>
        <p:nvSpPr>
          <p:cNvPr id="291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Our implementation stack shows how the design will be built</a:t>
            </a:r>
          </a:p>
        </p:txBody>
      </p:sp>
      <p:sp>
        <p:nvSpPr>
          <p:cNvPr id="292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293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94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5" name="Mobile / Web Layer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Mobile / Web Layer</a:t>
            </a:r>
          </a:p>
        </p:txBody>
      </p:sp>
      <p:sp>
        <p:nvSpPr>
          <p:cNvPr id="296" name="Android, iOS, Flutter, React, or web frontend."/>
          <p:cNvSpPr txBox="1"/>
          <p:nvPr/>
        </p:nvSpPr>
        <p:spPr>
          <a:xfrm>
            <a:off x="998219" y="2190750"/>
            <a:ext cx="4099562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TML + CSS + JavaScript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/>
          </a:p>
        </p:txBody>
      </p:sp>
      <p:sp>
        <p:nvSpPr>
          <p:cNvPr id="297" name="section-1"/>
          <p:cNvSpPr/>
          <p:nvPr/>
        </p:nvSpPr>
        <p:spPr>
          <a:xfrm>
            <a:off x="6096000" y="1595825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98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9" name="Cloud Services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Cloud Services</a:t>
            </a:r>
          </a:p>
        </p:txBody>
      </p:sp>
      <p:sp>
        <p:nvSpPr>
          <p:cNvPr id="300" name="Compute, database, storage, authentication, analytics, API tools."/>
          <p:cNvSpPr txBox="1"/>
          <p:nvPr/>
        </p:nvSpPr>
        <p:spPr>
          <a:xfrm>
            <a:off x="6408419" y="2190750"/>
            <a:ext cx="4099562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Storage, Cloud Database, Cloud Computing Authentication Service, Notification Service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1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02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3" name="Evidence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Evidence</a:t>
            </a:r>
          </a:p>
        </p:txBody>
      </p:sp>
      <p:sp>
        <p:nvSpPr>
          <p:cNvPr id="304" name="GitHub, API test, cloud dashboard, endpoint, logs, or deployment URL."/>
          <p:cNvSpPr txBox="1"/>
          <p:nvPr/>
        </p:nvSpPr>
        <p:spPr>
          <a:xfrm>
            <a:off x="998219" y="3829050"/>
            <a:ext cx="4099562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Repository,Google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Drive,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Cloud, Render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5" name="section-3"/>
          <p:cNvSpPr/>
          <p:nvPr/>
        </p:nvSpPr>
        <p:spPr>
          <a:xfrm>
            <a:off x="6096000" y="3227947"/>
            <a:ext cx="4857750" cy="1435269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06" name="section-accent-3"/>
          <p:cNvSpPr/>
          <p:nvPr/>
        </p:nvSpPr>
        <p:spPr>
          <a:xfrm>
            <a:off x="6134100" y="3238499"/>
            <a:ext cx="57150" cy="1323439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7" name="Version Control"/>
          <p:cNvSpPr txBox="1"/>
          <p:nvPr/>
        </p:nvSpPr>
        <p:spPr>
          <a:xfrm>
            <a:off x="6305550" y="3315072"/>
            <a:ext cx="420243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rPr dirty="0"/>
              <a:t>Version Control</a:t>
            </a:r>
          </a:p>
        </p:txBody>
      </p:sp>
      <p:sp>
        <p:nvSpPr>
          <p:cNvPr id="308" name="Repository structure, commits, branches, and README clarity."/>
          <p:cNvSpPr txBox="1"/>
          <p:nvPr/>
        </p:nvSpPr>
        <p:spPr>
          <a:xfrm>
            <a:off x="6362700" y="3424794"/>
            <a:ext cx="4145281" cy="1323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endParaRPr lang="en-I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GitLab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Bitbucket</a:t>
            </a:r>
          </a:p>
          <a:p>
            <a:endParaRPr dirty="0"/>
          </a:p>
        </p:txBody>
      </p:sp>
      <p:sp>
        <p:nvSpPr>
          <p:cNvPr id="310" name="Guidance - delete before presentation: Show real evidence. One clear screenshot is better than many unreadable screenshots."/>
          <p:cNvSpPr txBox="1"/>
          <p:nvPr/>
        </p:nvSpPr>
        <p:spPr>
          <a:xfrm>
            <a:off x="1150619" y="5934075"/>
            <a:ext cx="989076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8A4B18"/>
                </a:solidFill>
              </a:defRPr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5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316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317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318" name="CO1 AT3 | 10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10</a:t>
            </a:r>
          </a:p>
        </p:txBody>
      </p:sp>
      <p:sp>
        <p:nvSpPr>
          <p:cNvPr id="319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Demo Storyboard and User Journey</a:t>
            </a:r>
          </a:p>
        </p:txBody>
      </p:sp>
      <p:sp>
        <p:nvSpPr>
          <p:cNvPr id="320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A complete user journey proves the product flow</a:t>
            </a:r>
          </a:p>
        </p:txBody>
      </p:sp>
      <p:sp>
        <p:nvSpPr>
          <p:cNvPr id="321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322" name="scene-0"/>
          <p:cNvSpPr/>
          <p:nvPr/>
        </p:nvSpPr>
        <p:spPr>
          <a:xfrm>
            <a:off x="72390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23" name="Scene 1"/>
          <p:cNvSpPr txBox="1"/>
          <p:nvPr/>
        </p:nvSpPr>
        <p:spPr>
          <a:xfrm>
            <a:off x="941069" y="173355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1</a:t>
            </a:r>
          </a:p>
        </p:txBody>
      </p:sp>
      <p:sp>
        <p:nvSpPr>
          <p:cNvPr id="324" name="User action -&gt; system response -&gt; cloud component touched"/>
          <p:cNvSpPr txBox="1"/>
          <p:nvPr/>
        </p:nvSpPr>
        <p:spPr>
          <a:xfrm>
            <a:off x="941069" y="2095500"/>
            <a:ext cx="2613662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rPr lang="en-US" dirty="0"/>
              <a:t>Patient Login → User Authentication → Cloud Identity Service</a:t>
            </a:r>
          </a:p>
        </p:txBody>
      </p:sp>
      <p:sp>
        <p:nvSpPr>
          <p:cNvPr id="325" name="scene-1"/>
          <p:cNvSpPr/>
          <p:nvPr/>
        </p:nvSpPr>
        <p:spPr>
          <a:xfrm>
            <a:off x="436245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26" name="Scene 2"/>
          <p:cNvSpPr txBox="1"/>
          <p:nvPr/>
        </p:nvSpPr>
        <p:spPr>
          <a:xfrm>
            <a:off x="4579619" y="173355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2</a:t>
            </a:r>
          </a:p>
        </p:txBody>
      </p:sp>
      <p:sp>
        <p:nvSpPr>
          <p:cNvPr id="327" name="User action -&gt; system response -&gt; cloud component touched"/>
          <p:cNvSpPr txBox="1"/>
          <p:nvPr/>
        </p:nvSpPr>
        <p:spPr>
          <a:xfrm>
            <a:off x="4579619" y="2095500"/>
            <a:ext cx="2613662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rPr lang="en-US" dirty="0"/>
              <a:t>Book Appointment → Patient Details Stored → Cloud Database</a:t>
            </a:r>
            <a:endParaRPr dirty="0"/>
          </a:p>
        </p:txBody>
      </p:sp>
      <p:sp>
        <p:nvSpPr>
          <p:cNvPr id="328" name="scene-2"/>
          <p:cNvSpPr/>
          <p:nvPr/>
        </p:nvSpPr>
        <p:spPr>
          <a:xfrm>
            <a:off x="800100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29" name="Scene 3"/>
          <p:cNvSpPr txBox="1"/>
          <p:nvPr/>
        </p:nvSpPr>
        <p:spPr>
          <a:xfrm>
            <a:off x="8218169" y="173355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3</a:t>
            </a:r>
          </a:p>
        </p:txBody>
      </p:sp>
      <p:sp>
        <p:nvSpPr>
          <p:cNvPr id="330" name="User action -&gt; system response -&gt; cloud component touched"/>
          <p:cNvSpPr txBox="1"/>
          <p:nvPr/>
        </p:nvSpPr>
        <p:spPr>
          <a:xfrm>
            <a:off x="8218169" y="2095500"/>
            <a:ext cx="2613662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rPr lang="en-US" dirty="0"/>
              <a:t>Join OP Queue → Live Token Generated → Backend API</a:t>
            </a:r>
            <a:endParaRPr dirty="0"/>
          </a:p>
        </p:txBody>
      </p:sp>
      <p:sp>
        <p:nvSpPr>
          <p:cNvPr id="331" name="scene-3"/>
          <p:cNvSpPr/>
          <p:nvPr/>
        </p:nvSpPr>
        <p:spPr>
          <a:xfrm>
            <a:off x="72390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32" name="Scene 4"/>
          <p:cNvSpPr txBox="1"/>
          <p:nvPr/>
        </p:nvSpPr>
        <p:spPr>
          <a:xfrm>
            <a:off x="941069" y="346710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4</a:t>
            </a:r>
          </a:p>
        </p:txBody>
      </p:sp>
      <p:sp>
        <p:nvSpPr>
          <p:cNvPr id="333" name="User action -&gt; system response -&gt; cloud component touched"/>
          <p:cNvSpPr txBox="1"/>
          <p:nvPr/>
        </p:nvSpPr>
        <p:spPr>
          <a:xfrm>
            <a:off x="941069" y="3829050"/>
            <a:ext cx="2613662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rPr lang="en-US" dirty="0"/>
              <a:t>No-show Analysis → Risk Prediction Generated → AI Prediction Module</a:t>
            </a:r>
            <a:endParaRPr dirty="0"/>
          </a:p>
        </p:txBody>
      </p:sp>
      <p:sp>
        <p:nvSpPr>
          <p:cNvPr id="334" name="scene-4"/>
          <p:cNvSpPr/>
          <p:nvPr/>
        </p:nvSpPr>
        <p:spPr>
          <a:xfrm>
            <a:off x="436245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35" name="Scene 5"/>
          <p:cNvSpPr txBox="1"/>
          <p:nvPr/>
        </p:nvSpPr>
        <p:spPr>
          <a:xfrm>
            <a:off x="4579619" y="346710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5</a:t>
            </a:r>
          </a:p>
        </p:txBody>
      </p:sp>
      <p:sp>
        <p:nvSpPr>
          <p:cNvPr id="336" name="User action -&gt; system response -&gt; cloud component touched"/>
          <p:cNvSpPr txBox="1"/>
          <p:nvPr/>
        </p:nvSpPr>
        <p:spPr>
          <a:xfrm>
            <a:off x="4579619" y="3829050"/>
            <a:ext cx="2613662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rPr lang="en-US" dirty="0"/>
              <a:t>Queue Delay Detected → Smart Notification Sent → Cloud Notification Service</a:t>
            </a:r>
            <a:endParaRPr dirty="0"/>
          </a:p>
        </p:txBody>
      </p:sp>
      <p:sp>
        <p:nvSpPr>
          <p:cNvPr id="337" name="scene-5"/>
          <p:cNvSpPr/>
          <p:nvPr/>
        </p:nvSpPr>
        <p:spPr>
          <a:xfrm>
            <a:off x="800100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38" name="Scene 6"/>
          <p:cNvSpPr txBox="1"/>
          <p:nvPr/>
        </p:nvSpPr>
        <p:spPr>
          <a:xfrm>
            <a:off x="8218169" y="346710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6</a:t>
            </a:r>
          </a:p>
        </p:txBody>
      </p:sp>
      <p:sp>
        <p:nvSpPr>
          <p:cNvPr id="339" name="User action -&gt; system response -&gt; cloud component touched"/>
          <p:cNvSpPr txBox="1"/>
          <p:nvPr/>
        </p:nvSpPr>
        <p:spPr>
          <a:xfrm>
            <a:off x="8218169" y="3829050"/>
            <a:ext cx="2613662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rPr lang="en-US" dirty="0"/>
              <a:t>View Dashboard → Queue Status &amp; Reports Displayed → Analytics Engine</a:t>
            </a:r>
            <a:endParaRPr dirty="0"/>
          </a:p>
        </p:txBody>
      </p:sp>
      <p:sp>
        <p:nvSpPr>
          <p:cNvPr id="341" name="Guidance - delete before presentation: Show the product journey. Each scene should connect user action, system response, and cloud component."/>
          <p:cNvSpPr txBox="1"/>
          <p:nvPr/>
        </p:nvSpPr>
        <p:spPr>
          <a:xfrm>
            <a:off x="2705100" y="5764054"/>
            <a:ext cx="989076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8A4B18"/>
                </a:solidFill>
              </a:defRPr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46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347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349" name="CO1 AT3 | 11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11</a:t>
            </a:r>
          </a:p>
        </p:txBody>
      </p:sp>
      <p:sp>
        <p:nvSpPr>
          <p:cNvPr id="350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Evaluation Readiness Checklist</a:t>
            </a:r>
          </a:p>
        </p:txBody>
      </p:sp>
      <p:sp>
        <p:nvSpPr>
          <p:cNvPr id="351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Our evidence confirms that the presentation is ready</a:t>
            </a:r>
          </a:p>
        </p:txBody>
      </p:sp>
      <p:sp>
        <p:nvSpPr>
          <p:cNvPr id="352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353" name="check-0"/>
          <p:cNvSpPr/>
          <p:nvPr/>
        </p:nvSpPr>
        <p:spPr>
          <a:xfrm>
            <a:off x="952500" y="16192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4" name="box-0"/>
          <p:cNvSpPr/>
          <p:nvPr/>
        </p:nvSpPr>
        <p:spPr>
          <a:xfrm>
            <a:off x="1143000" y="18478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5" name="Cloud ecosystem and service model explained"/>
          <p:cNvSpPr txBox="1"/>
          <p:nvPr/>
        </p:nvSpPr>
        <p:spPr>
          <a:xfrm>
            <a:off x="1626869" y="1790700"/>
            <a:ext cx="3718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Cloud ecosystem and service model explained</a:t>
            </a:r>
          </a:p>
        </p:txBody>
      </p:sp>
      <p:sp>
        <p:nvSpPr>
          <p:cNvPr id="356" name="check-1"/>
          <p:cNvSpPr/>
          <p:nvPr/>
        </p:nvSpPr>
        <p:spPr>
          <a:xfrm>
            <a:off x="952500" y="26860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7" name="box-1"/>
          <p:cNvSpPr/>
          <p:nvPr/>
        </p:nvSpPr>
        <p:spPr>
          <a:xfrm>
            <a:off x="1143000" y="29146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8" name="REST/SOAP/API role connected to capstone"/>
          <p:cNvSpPr txBox="1"/>
          <p:nvPr/>
        </p:nvSpPr>
        <p:spPr>
          <a:xfrm>
            <a:off x="1626869" y="2857500"/>
            <a:ext cx="3718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REST/SOAP/API role connected to capstone</a:t>
            </a:r>
          </a:p>
        </p:txBody>
      </p:sp>
      <p:sp>
        <p:nvSpPr>
          <p:cNvPr id="359" name="check-2"/>
          <p:cNvSpPr/>
          <p:nvPr/>
        </p:nvSpPr>
        <p:spPr>
          <a:xfrm>
            <a:off x="952500" y="37528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0" name="box-2"/>
          <p:cNvSpPr/>
          <p:nvPr/>
        </p:nvSpPr>
        <p:spPr>
          <a:xfrm>
            <a:off x="1143000" y="39814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1" name="Architecture has compute, data, storage, security, monitoring"/>
          <p:cNvSpPr txBox="1"/>
          <p:nvPr/>
        </p:nvSpPr>
        <p:spPr>
          <a:xfrm>
            <a:off x="1626869" y="3924300"/>
            <a:ext cx="3718562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Architecture has compute, data, storage, security, monitoring</a:t>
            </a:r>
          </a:p>
        </p:txBody>
      </p:sp>
      <p:sp>
        <p:nvSpPr>
          <p:cNvPr id="362" name="check-3"/>
          <p:cNvSpPr/>
          <p:nvPr/>
        </p:nvSpPr>
        <p:spPr>
          <a:xfrm>
            <a:off x="6572250" y="16192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3" name="box-3"/>
          <p:cNvSpPr/>
          <p:nvPr/>
        </p:nvSpPr>
        <p:spPr>
          <a:xfrm>
            <a:off x="6762750" y="18478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4" name="Elasticity and scalability decisions are visible"/>
          <p:cNvSpPr txBox="1"/>
          <p:nvPr/>
        </p:nvSpPr>
        <p:spPr>
          <a:xfrm>
            <a:off x="7246619" y="1790700"/>
            <a:ext cx="3718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Elasticity and scalability decisions are visible</a:t>
            </a:r>
          </a:p>
        </p:txBody>
      </p:sp>
      <p:sp>
        <p:nvSpPr>
          <p:cNvPr id="365" name="check-4"/>
          <p:cNvSpPr/>
          <p:nvPr/>
        </p:nvSpPr>
        <p:spPr>
          <a:xfrm>
            <a:off x="6572250" y="26860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6" name="box-4"/>
          <p:cNvSpPr/>
          <p:nvPr/>
        </p:nvSpPr>
        <p:spPr>
          <a:xfrm>
            <a:off x="6762750" y="29146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7" name="GitHub and cloud evidence are inspectable"/>
          <p:cNvSpPr txBox="1"/>
          <p:nvPr/>
        </p:nvSpPr>
        <p:spPr>
          <a:xfrm>
            <a:off x="7246619" y="2857500"/>
            <a:ext cx="3718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GitHub and cloud evidence are inspectable</a:t>
            </a:r>
          </a:p>
        </p:txBody>
      </p:sp>
      <p:sp>
        <p:nvSpPr>
          <p:cNvPr id="368" name="check-5"/>
          <p:cNvSpPr/>
          <p:nvPr/>
        </p:nvSpPr>
        <p:spPr>
          <a:xfrm>
            <a:off x="6572250" y="37528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9" name="box-5"/>
          <p:cNvSpPr/>
          <p:nvPr/>
        </p:nvSpPr>
        <p:spPr>
          <a:xfrm>
            <a:off x="6762750" y="39814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70" name="References and integrity statement are included"/>
          <p:cNvSpPr txBox="1"/>
          <p:nvPr/>
        </p:nvSpPr>
        <p:spPr>
          <a:xfrm>
            <a:off x="7246619" y="3924300"/>
            <a:ext cx="3718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References and integrity statement are included</a:t>
            </a:r>
          </a:p>
        </p:txBody>
      </p:sp>
      <p:sp>
        <p:nvSpPr>
          <p:cNvPr id="371" name="Evaluator Focus-panel"/>
          <p:cNvSpPr/>
          <p:nvPr/>
        </p:nvSpPr>
        <p:spPr>
          <a:xfrm>
            <a:off x="2095500" y="4953000"/>
            <a:ext cx="8001000" cy="704850"/>
          </a:xfrm>
          <a:prstGeom prst="roundRect">
            <a:avLst>
              <a:gd name="adj" fmla="val 10811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72" name="Evaluator Focus-bar"/>
          <p:cNvSpPr/>
          <p:nvPr/>
        </p:nvSpPr>
        <p:spPr>
          <a:xfrm>
            <a:off x="2095500" y="4953000"/>
            <a:ext cx="800100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73" name="Evaluator Focus"/>
          <p:cNvSpPr txBox="1"/>
          <p:nvPr/>
        </p:nvSpPr>
        <p:spPr>
          <a:xfrm>
            <a:off x="2312669" y="5143500"/>
            <a:ext cx="75666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Evaluator Focus</a:t>
            </a:r>
          </a:p>
        </p:txBody>
      </p:sp>
      <p:sp>
        <p:nvSpPr>
          <p:cNvPr id="374" name="CO1 is verified through cloud design reasoning, service choices, evidence, and individual explanation."/>
          <p:cNvSpPr txBox="1"/>
          <p:nvPr/>
        </p:nvSpPr>
        <p:spPr>
          <a:xfrm>
            <a:off x="2312669" y="5524500"/>
            <a:ext cx="75666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72033"/>
                </a:solidFill>
              </a:defRPr>
            </a:lvl1pPr>
          </a:lstStyle>
          <a:p>
            <a:r>
              <a:t>CO1 is verified through cloud design reasoning, service choices, evidence, and individual explanation.</a:t>
            </a:r>
          </a:p>
        </p:txBody>
      </p:sp>
      <p:sp>
        <p:nvSpPr>
          <p:cNvPr id="376" name="Guidance - delete before presentation: Use this as a self-check slide while preparing. Delete the guidance tab before presentation."/>
          <p:cNvSpPr txBox="1"/>
          <p:nvPr/>
        </p:nvSpPr>
        <p:spPr>
          <a:xfrm>
            <a:off x="1150619" y="5934075"/>
            <a:ext cx="989076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8A4B18"/>
                </a:solidFill>
              </a:defRPr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81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382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383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384" name="CO1 AT3 | 12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12</a:t>
            </a:r>
          </a:p>
        </p:txBody>
      </p:sp>
      <p:sp>
        <p:nvSpPr>
          <p:cNvPr id="385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Conclusion, Limitations and Future Scope</a:t>
            </a:r>
          </a:p>
        </p:txBody>
      </p:sp>
      <p:sp>
        <p:nvSpPr>
          <p:cNvPr id="386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We close with learning, limitations and next steps</a:t>
            </a:r>
          </a:p>
        </p:txBody>
      </p:sp>
      <p:sp>
        <p:nvSpPr>
          <p:cNvPr id="387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388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89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0" name="Learning Outcome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Learning Outcome</a:t>
            </a:r>
          </a:p>
        </p:txBody>
      </p:sp>
      <p:sp>
        <p:nvSpPr>
          <p:cNvPr id="391" name="What cloud concepts did the project make clear?"/>
          <p:cNvSpPr txBox="1"/>
          <p:nvPr/>
        </p:nvSpPr>
        <p:spPr>
          <a:xfrm>
            <a:off x="998219" y="2190750"/>
            <a:ext cx="4099562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to develop an AI-based system for predicting patient no-shows and managing hospital queues efficiently.</a:t>
            </a:r>
          </a:p>
          <a:p>
            <a:endParaRPr dirty="0"/>
          </a:p>
        </p:txBody>
      </p:sp>
      <p:sp>
        <p:nvSpPr>
          <p:cNvPr id="392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93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4" name="Limitations"/>
          <p:cNvSpPr txBox="1"/>
          <p:nvPr/>
        </p:nvSpPr>
        <p:spPr>
          <a:xfrm>
            <a:off x="6312310" y="1600200"/>
            <a:ext cx="419567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rPr dirty="0"/>
              <a:t>Limitations</a:t>
            </a:r>
          </a:p>
        </p:txBody>
      </p:sp>
      <p:sp>
        <p:nvSpPr>
          <p:cNvPr id="395" name="What remains incomplete or needs improvement?"/>
          <p:cNvSpPr txBox="1"/>
          <p:nvPr/>
        </p:nvSpPr>
        <p:spPr>
          <a:xfrm>
            <a:off x="6369460" y="1962150"/>
            <a:ext cx="4138521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dirty="0"/>
              <a:t>Prediction accuracy depends on the quality of patient data.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dirty="0"/>
              <a:t>Requires secure handling of sensitive healthcare information.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dirty="0"/>
              <a:t>System performance may reduce with large-scale data processing.</a:t>
            </a:r>
          </a:p>
          <a:p>
            <a:endParaRPr dirty="0"/>
          </a:p>
        </p:txBody>
      </p:sp>
      <p:sp>
        <p:nvSpPr>
          <p:cNvPr id="396" name="section-2"/>
          <p:cNvSpPr/>
          <p:nvPr/>
        </p:nvSpPr>
        <p:spPr>
          <a:xfrm>
            <a:off x="723900" y="3238500"/>
            <a:ext cx="4644513" cy="187839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97" name="section-accent-2"/>
          <p:cNvSpPr/>
          <p:nvPr/>
        </p:nvSpPr>
        <p:spPr>
          <a:xfrm>
            <a:off x="723900" y="3238500"/>
            <a:ext cx="57150" cy="187839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8" name="Future Improvement"/>
          <p:cNvSpPr txBox="1"/>
          <p:nvPr/>
        </p:nvSpPr>
        <p:spPr>
          <a:xfrm>
            <a:off x="876300" y="3260547"/>
            <a:ext cx="422148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rPr dirty="0"/>
              <a:t>Future Improvement</a:t>
            </a:r>
          </a:p>
        </p:txBody>
      </p:sp>
      <p:sp>
        <p:nvSpPr>
          <p:cNvPr id="399" name="What will be improved before final capstone review?"/>
          <p:cNvSpPr txBox="1"/>
          <p:nvPr/>
        </p:nvSpPr>
        <p:spPr>
          <a:xfrm>
            <a:off x="876300" y="3638550"/>
            <a:ext cx="4221481" cy="1569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patient tracking and smart notifications.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prediction accuracy using advanced AI models.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voice assistant and multilingual support for patients.</a:t>
            </a:r>
          </a:p>
          <a:p>
            <a:endParaRPr dirty="0"/>
          </a:p>
        </p:txBody>
      </p:sp>
      <p:sp>
        <p:nvSpPr>
          <p:cNvPr id="400" name="section-3"/>
          <p:cNvSpPr/>
          <p:nvPr/>
        </p:nvSpPr>
        <p:spPr>
          <a:xfrm>
            <a:off x="6134100" y="3203615"/>
            <a:ext cx="4827269" cy="1639947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ection-accent-3"/>
          <p:cNvSpPr/>
          <p:nvPr/>
        </p:nvSpPr>
        <p:spPr>
          <a:xfrm>
            <a:off x="6134100" y="3238500"/>
            <a:ext cx="57150" cy="155174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Integrity Statement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Integrity Statement</a:t>
            </a:r>
          </a:p>
        </p:txBody>
      </p:sp>
      <p:sp>
        <p:nvSpPr>
          <p:cNvPr id="403" name="Mention sources, tools, datasets, and any AI assistance acknowledged."/>
          <p:cNvSpPr txBox="1"/>
          <p:nvPr/>
        </p:nvSpPr>
        <p:spPr>
          <a:xfrm>
            <a:off x="6469501" y="3834368"/>
            <a:ext cx="4038480" cy="918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confirm that this project work is my original effort and all information, data, and resources used are properly acknowledged.</a:t>
            </a:r>
          </a:p>
          <a:p>
            <a:endParaRPr dirty="0"/>
          </a:p>
        </p:txBody>
      </p:sp>
      <p:sp>
        <p:nvSpPr>
          <p:cNvPr id="405" name="Guidance - delete before presentation: End with technical learning, not only a thank-you slide."/>
          <p:cNvSpPr txBox="1"/>
          <p:nvPr/>
        </p:nvSpPr>
        <p:spPr>
          <a:xfrm>
            <a:off x="1150619" y="5934075"/>
            <a:ext cx="989076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8A4B18"/>
                </a:solidFill>
              </a:defRPr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1556</Words>
  <Application>Microsoft Office PowerPoint</Application>
  <PresentationFormat>Widescreen</PresentationFormat>
  <Paragraphs>242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Helvetica Neue</vt:lpstr>
      <vt:lpstr>Times New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Prakeerthi T</dc:creator>
  <cp:lastModifiedBy>Prakeerthi T</cp:lastModifiedBy>
  <cp:revision>1</cp:revision>
  <dcterms:modified xsi:type="dcterms:W3CDTF">2026-07-22T04:16:26Z</dcterms:modified>
</cp:coreProperties>
</file>